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3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1F3B"/>
                </a:solidFill>
                <a:latin typeface="Arial"/>
              </a:rPr>
              <a:t>Churn Rate by Contract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Churn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D64545"/>
            </a:solidFill>
            <a:ln w="38100" cap="flat">
              <a:solidFill>
                <a:srgbClr val="D64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64545"/>
              </a:solidFill>
              <a:ln w="9525" cap="flat">
                <a:solidFill>
                  <a:srgbClr val="D64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0-6mo</c:v>
                  </c:pt>
                  <c:pt idx="1">
                    <c:v>6-12mo</c:v>
                  </c:pt>
                  <c:pt idx="2">
                    <c:v>1-2yr</c:v>
                  </c:pt>
                  <c:pt idx="3">
                    <c:v>2yr+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47.4</c:v>
                </c:pt>
                <c:pt idx="1">
                  <c:v>33.5</c:v>
                </c:pt>
                <c:pt idx="2">
                  <c:v>22.5</c:v>
                </c:pt>
                <c:pt idx="3">
                  <c:v>6.6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0A6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Has TechSupport</c:v>
                  </c:pt>
                  <c:pt idx="1">
                    <c:v>No TechSupport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15.2</c:v>
                </c:pt>
                <c:pt idx="1">
                  <c:v>41.6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SVM (RBF)</c:v>
                  </c:pt>
                  <c:pt idx="3">
                    <c:v>XGBoost +
SMOTE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0.845</c:v>
                </c:pt>
                <c:pt idx="1">
                  <c:v>0.835</c:v>
                </c:pt>
                <c:pt idx="2">
                  <c:v>0.823</c:v>
                </c:pt>
                <c:pt idx="3">
                  <c:v>0.833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8FA6E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SVM (RBF)</c:v>
                  </c:pt>
                  <c:pt idx="3">
                    <c:v>XGBoost +
SMOTE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0.797</c:v>
                </c:pt>
                <c:pt idx="1">
                  <c:v>0.709</c:v>
                </c:pt>
                <c:pt idx="2">
                  <c:v>0.767</c:v>
                </c:pt>
                <c:pt idx="3">
                  <c:v>0.591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F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Arial"/>
              </a:rPr>
              <a:t>Top Global Churn Drivers (SHAP)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Impact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is_month_to_month</c:v>
                  </c:pt>
                  <c:pt idx="1">
                    <c:v>tenure</c:v>
                  </c:pt>
                  <c:pt idx="2">
                    <c:v>InternetService_Fiber</c:v>
                  </c:pt>
                  <c:pt idx="3">
                    <c:v>support_services_count</c:v>
                  </c:pt>
                  <c:pt idx="4">
                    <c:v>MonthlyCharges</c:v>
                  </c:pt>
                  <c:pt idx="5">
                    <c:v>is_autopay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0.93</c:v>
                </c:pt>
                <c:pt idx="1">
                  <c:v>0.81</c:v>
                </c:pt>
                <c:pt idx="2">
                  <c:v>0.62</c:v>
                </c:pt>
                <c:pt idx="3">
                  <c:v>0.54</c:v>
                </c:pt>
                <c:pt idx="4">
                  <c:v>0.41</c:v>
                </c:pt>
                <c:pt idx="5">
                  <c:v>0.29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Arial"/>
              </a:rPr>
              <a:t>Net Benefit by Strategy (test-set scale)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Benefit ($)</c:v>
                </c:pt>
              </c:strCache>
            </c:strRef>
          </c:tx>
          <c:spPr>
            <a:solidFill>
              <a:srgbClr val="2E9E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 Nothing</c:v>
                  </c:pt>
                  <c:pt idx="1">
                    <c:v>Contact Everyone</c:v>
                  </c:pt>
                  <c:pt idx="2">
                    <c:v>Model-Targeted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27524</c:v>
                </c:pt>
                <c:pt idx="2">
                  <c:v>51543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INTELLIGENCE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Prediction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ML pipeline that predicts, explains, and quantifies the cost of customer churn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3291840" cy="1417320"/>
          </a:xfrm>
          <a:prstGeom prst="rect">
            <a:avLst/>
          </a:prstGeom>
          <a:solidFill>
            <a:srgbClr val="263080"/>
          </a:solidFill>
          <a:ln w="12700">
            <a:solidFill>
              <a:srgbClr val="263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5876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$1.67M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at risk from churn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3749040"/>
            <a:ext cx="3291840" cy="1417320"/>
          </a:xfrm>
          <a:prstGeom prst="rect">
            <a:avLst/>
          </a:prstGeom>
          <a:solidFill>
            <a:srgbClr val="263080"/>
          </a:solidFill>
          <a:ln w="12700">
            <a:solidFill>
              <a:srgbClr val="263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385876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480560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of best model (Logistic Regression)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3749040"/>
            <a:ext cx="3291840" cy="1417320"/>
          </a:xfrm>
          <a:prstGeom prst="rect">
            <a:avLst/>
          </a:prstGeom>
          <a:solidFill>
            <a:srgbClr val="263080"/>
          </a:solidFill>
          <a:ln w="12700">
            <a:solidFill>
              <a:srgbClr val="263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385876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$51.5K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001000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 from model-targeted retention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5595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Saqib Hussain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8704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Modeling &amp; Explainability (Lead)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43400" y="55595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Fayyaz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43400" y="58704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Feature Engineering &amp; Deployment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63840" y="55595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Shahzaib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0" y="58704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Business Impact &amp; Presentation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Course — Mid-Term Project   |   EDSIY-KP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customers is expensive — and mostly preventable if you know who's leaving before they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55448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514600" cy="155448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8288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514600" cy="155448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8288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$139K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63640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lost to churn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514600" cy="155448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18288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$1.67M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revenue impact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10789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customer costs 5–7× more than retaining an existing one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churn is predictable — customers show warning signs (contract type, tenure, service gaps) months before they leave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flags at-risk customers turns a reactive loss into a proactive save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pipeline that predicts churn, explains why, groups customers into actionable segments, and quantifies the ROI of acting on 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Mid-Term ML Pipeline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 #1 — Contract Type Drives Churn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858000" y="14630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~15× the rate of two-year contract holders.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858000" y="237744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strongest churn signal in the entire dataset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opening hypothesis before any model was trained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action: incentivize upgrades from month-to-month to annual contracts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Mid-Term ML Pipeline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 #2 — When and Why Customers Leave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470916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front-loaded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20240"/>
          <a:ext cx="48463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8006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highest in the first year, especially the first 6 months — the critical retention window.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72200" y="1325880"/>
            <a:ext cx="5468112" cy="470916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services = 2× churn risk</a:t>
            </a:r>
            <a:endParaRPr lang="en-US" sz="16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446520" y="1920240"/>
          <a:ext cx="49377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446520" y="4800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feel unsupported — not just those who pay less — are the ones leaving. Bundling support into onboarding is a cheap retention lever.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Mid-Term ML Pipeline Project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Feature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engineered feature traces back to an EDA finding — nothing was added blindly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051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tenure_bucket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43400" y="181051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92040" y="1810512"/>
            <a:ext cx="6537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front-loaded in the first year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77724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2491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support_services_count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43400" y="272491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2724912"/>
            <a:ext cx="6537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TechSupport/OnlineSecurity → 2× churn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77724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3931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is_autopay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3400" y="363931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2040" y="3639312"/>
            <a:ext cx="6537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payers churn 3× more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77724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55371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is_month_to_month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43400" y="455371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92040" y="4553712"/>
            <a:ext cx="6537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single churn signal in the data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77724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46811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charge_per_service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43400" y="546811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92040" y="5468112"/>
            <a:ext cx="6537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pay more per service used, not less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Mid-Term ML Pipeline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baseline (LogReg, RF, SVM) + advanced (XGBoost + SMOTE), evaluated on a held-out test set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508760"/>
            <a:ext cx="3931920" cy="420624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691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Logistic Regression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55280" y="22402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ROC-AUC (0.845) AND highest recall — catches the most true churners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"Simple" beats "advanced" here — a real, defensible finding, not a shortcut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matters more than precision for this problem: a missed churner costs far more than a wasted retention offer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Mid-Term ML Pipeline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— Why the Model Says So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breaks down any prediction into the specific factors driving it — turning a score into a reason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583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54480"/>
            <a:ext cx="4251960" cy="393192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17373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rediscovered the EDA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35240" y="224028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type, tenure, and support services dominate — independently confirming what the manual EDA found in Step 2. That consistency is strong evidence the model learned real signal, not noise.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35240" y="36576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global importance: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402336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also explains individual customers — for any single at-risk customer, we can show exactly which factors are pushing their score up, enabling targeted (not blanket) interventions.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Mid-Term ML Pipeline Project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 (K-Means + PCA)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statistically distinct, business-nameable groups — not just cluster numbers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356616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320040" cy="3200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94767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At-Risk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2,034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rate: </a:t>
            </a:r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 </a:t>
            </a:r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$84.81/mo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691640"/>
            <a:ext cx="2560320" cy="356616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965960"/>
            <a:ext cx="320040" cy="320040"/>
          </a:xfrm>
          <a:prstGeom prst="ellipse">
            <a:avLst/>
          </a:prstGeom>
          <a:solidFill>
            <a:srgbClr val="E0A62B"/>
          </a:solidFill>
          <a:ln w="12700">
            <a:solidFill>
              <a:srgbClr val="E0A6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94767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At-Risk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697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1,648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7472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rate: </a:t>
            </a:r>
            <a:pPr indent="0" marL="0">
              <a:buNone/>
            </a:pPr>
            <a:r>
              <a:rPr lang="en-US" sz="1200" b="1" dirty="0">
                <a:solidFill>
                  <a:srgbClr val="E0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 </a:t>
            </a:r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$40.05/mo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691640"/>
            <a:ext cx="2560320" cy="356616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1965960"/>
            <a:ext cx="320040" cy="320040"/>
          </a:xfrm>
          <a:prstGeom prst="ellipse">
            <a:avLst/>
          </a:prstGeom>
          <a:solidFill>
            <a:srgbClr val="4A7CC7"/>
          </a:solidFill>
          <a:ln w="12700">
            <a:solidFill>
              <a:srgbClr val="4A7C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94767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High-Value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2697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2,100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6364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rate: </a:t>
            </a:r>
            <a:pPr indent="0" marL="0">
              <a:buNone/>
            </a:pPr>
            <a:r>
              <a:rPr lang="en-US" sz="1200" b="1" dirty="0">
                <a:solidFill>
                  <a:srgbClr val="4A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 </a:t>
            </a:r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$87.61/mo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15400" y="1691640"/>
            <a:ext cx="2560320" cy="356616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0" y="1965960"/>
            <a:ext cx="320040" cy="3200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0" y="194767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Low-Spend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52560" y="2697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1,261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05256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05256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rate: </a:t>
            </a:r>
            <a:pPr indent="0" marL="0">
              <a:buNone/>
            </a:pP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05256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 </a:t>
            </a:r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$26.66/mo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60527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target: High-Value At-Risk = $1.16M in annual revenue already lost within this one segment alone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Mid-Term ML Pipeline Project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Acting on This Actually Pay Off?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three retention strategies: do nothing, contact everyone, or target only what the model flags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1264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508760"/>
            <a:ext cx="4754880" cy="420624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0" y="16916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Model-targeting wins on efficiency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32320" y="2194560"/>
            <a:ext cx="42976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~2× the net benefit of blanket outreach, at less than half the campaign cost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the best strategy across a 15–50% sensitivity range on retention-offer success rate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campaigns waste spend on the ~74% of customers who'd have stayed anyway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Mid-Term ML Pipeline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any customer profile in real time and see exactly why the model flags them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09728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331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app — built on the same trained model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154680"/>
            <a:ext cx="109728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108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tenure, contract, services, payment method for any customer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109728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886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live churn risk % + a SHAP explanation of that specific score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109728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663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on a classmate's made-up customer, live, during Q&amp;A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solidFill>
            <a:srgbClr val="263080"/>
          </a:solidFill>
          <a:ln w="12700">
            <a:solidFill>
              <a:srgbClr val="263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57607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streamlit_app.py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business should actually do with this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6459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Logistic Regression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0391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customers monthly; ROC-AUC 0.845, highest recall among strong performers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6974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High-Value At-Risk segment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0906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2,034 customers, 56% churn rate, $1.16M in annual revenue already lost here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7490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retention spend, don't blanket 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1422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Model-targeted campaigns deliver ~2× the net benefit at half the cost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8006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contract upgrades &amp; support adoption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1937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cheapest, highest-leverage levers identified by the EDA and SHAP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943600"/>
            <a:ext cx="11064240" cy="59436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60350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→  Feature Engineering  →  Modeling  →  Explainability  →  Segmentation  →  Cost-Benefit  →  Live Demo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Mid-Term ML Pipeline Project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2026-08-19T07:07:28Z</dcterms:created>
  <dcterms:modified xsi:type="dcterms:W3CDTF">2026-08-19T07:07:28Z</dcterms:modified>
</cp:coreProperties>
</file>